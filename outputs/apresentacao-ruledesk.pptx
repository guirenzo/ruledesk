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tema: Sistemas Baseados em Regras, uma das abordagens clássicas da IA (IA simbólica). Dizer que vamos mostrar a teoria e um protótipo funcional chamado RuleDesk, que faz triagem de chamados de TI. Eu sou Guilherme, e o trabalho é em dupla com o Gustavo.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o mapa da apresentação. São seis blocos: problema, abordagem, como funciona, o protótipo RuleDesk, explicabilidade e conclusão. Prometer uma demonstração ao vivo do sistema no meio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a dor: em uma central de TI, a triagem é subjetiva. O mesmo problema recebe prioridades diferentes dependendo de quem atende. E a decisão precisa ser rápida, mas também justificável. A pergunta que guia o trabalho: como padronizar a prioridade e explicar o porquê.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importante para a banca: IA não é só rede neural. A IA simbólica representa conhecimento explicitamente e raciocina com regras. Comparar: regras são transparentes e auditáveis; ML é poderoso mas caixa-preta. Nosso tema é a coluna da esquerda. Não é que uma seja melhor — cada uma serve a um cenário.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sistema especialista tem estas partes. A grande sacada arquitetural é separar a base de conhecimento (o QUE) do motor de inferência (o COMO): dá para mudar as regras sem reprogramar o motor. Destacar a explicação em verde — é o nosso diferencial, que veremos no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formato SE-ENTÃO. Uma regra forte, R02: se o serviço está indisponível, soma 35 pontos — quase garante P1. Uma regra atenuante, R16: se existe contorno e nada crítico, subtrai 8. É assim que o especialista codifica seu conhecimento. São 16 regras no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ciclo match–resolve–act. O motor parte dos fatos e avança até a conclusão — isso é encadeamento para frente, orientado a dados, perfeito para triagem. Contrastar com o para trás, que parte de uma hipótese (como o MYCIN na medicina). Mencionar que motores reais usam o algoritmo Rete para escalar — posso citar se perguntarem.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RuleDesk. À esquerda, o que o usuário faz: informa fatos objetivos do chamado. À direita, a aba Simulador real do sistema, com cenários prontos. Dizer a stack rapidamente. Anunciar que vou rodar um cenário: a queda de produção.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o conhecimento não fica escondido: as 16 regras aparecem na tela, com filtro por grupo. Isso reforça a transparência do sistema. Cada card mostra a condição SE, a ação ENTÃO e o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resultado do cenário de queda. O sistema conclui P1 Crítica, score 100, resposta em 15 minutos. A faixa colorida mostra onde o score caiu. Os chips de fatos em vermelho são os que mais pesaram. Mas o mais importante é a PRÓXIMA tela: por que ele chegou nesse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ponto alto. O sistema não dá só a resposta — mostra o raciocínio: os fatos, as 8 regras que dispararam com seus pesos, e a soma em cascata (10 + os pesos = 148, limitado a 100). Enfatizar: isso é explicabilidade. Em ambientes corporativos e regulados, decisões automatizadas PRECISAM ser auditáveis. É o que separa regras de uma caixa-preta.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a ideia central do trabalho: a explicabilidade. Três benefícios: rastreável (a soma das regras), confiável (exigido em áreas reguladas) e padronizado (mesmos fatos, mesma decisão). É a resposta direta à pergunta do slide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isso não é acadêmico: sistemas de regras estão em toda parte. Destacar o primeiro item, ITSM, que é exatamente o domínio do RuleDesk. Citar rapidamente saúde, finanças, indústria 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 mensagem-chave: nem toda IA precisa de rede neural; quando o conhecimento é claro, regras bem definidas bastam e ainda são transparentes. Listar rapidamente os próximos passos para mostrar visão crítica: calibrar pesos, encadear regras, integrar a ferramentas reais, e um caminho híbrido.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 Ter em mente respostas rápidas: (1) forward vs backward chaining; (2) o que é o algoritmo Rete; (3) por que score ponderado e não encadeamento puro — escolha de clareza e previsibilidade. Lembrar de colocar o link real do GitHub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486400" cy="5486400"/>
          </a:xfrm>
          <a:prstGeom prst="ellipse">
            <a:avLst/>
          </a:prstGeom>
          <a:solidFill>
            <a:srgbClr val="6366F1">
              <a:alpha val="2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023360"/>
            <a:ext cx="5029200" cy="5029200"/>
          </a:xfrm>
          <a:prstGeom prst="ellipse">
            <a:avLst/>
          </a:prstGeom>
          <a:solidFill>
            <a:srgbClr val="8B5CF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777240"/>
            <a:ext cx="1051560" cy="105156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302" y="1029614"/>
            <a:ext cx="546811" cy="5468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2103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C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SIMBÓLICA · APLICAÇÕES INTELIGENTES NO DIA-A-DIA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" y="25146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Baseados em Regras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66928" y="3611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RuleDesk</a:t>
            </a:r>
            <a:pPr indent="0" marL="0">
              <a:buNone/>
            </a:pPr>
            <a:r>
              <a:rPr lang="en-US" sz="220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sistema especialista para triagem inteligente de chamados de TI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566928" y="4709160"/>
            <a:ext cx="4114800" cy="0"/>
          </a:xfrm>
          <a:prstGeom prst="line">
            <a:avLst/>
          </a:prstGeom>
          <a:noFill/>
          <a:ln w="25400">
            <a:solidFill>
              <a:srgbClr val="6366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937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Renzo   ·   Gustavo Vieira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Claudinei Dias (Ney)  ·  Seminário N3  ·  2026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veremos em 10 minutos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3442106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658368" cy="658368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968" y="2380000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18488" y="2240280"/>
            <a:ext cx="22533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22960" y="2898648"/>
            <a:ext cx="29300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triar chamados de TI é difícil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74794" y="1965960"/>
            <a:ext cx="3442106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30826" y="2221992"/>
            <a:ext cx="658368" cy="658368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835" y="2380000"/>
            <a:ext cx="342351" cy="34235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26354" y="2240280"/>
            <a:ext cx="22533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abordagem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630826" y="2898648"/>
            <a:ext cx="29300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simbólica e sistemas baseados em regras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182661" y="1965960"/>
            <a:ext cx="3442106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38693" y="2221992"/>
            <a:ext cx="658368" cy="658368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6701" y="2380000"/>
            <a:ext cx="342351" cy="34235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234221" y="2240280"/>
            <a:ext cx="22533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438693" y="2898648"/>
            <a:ext cx="29300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produção e motor de inferência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566928" y="3977640"/>
            <a:ext cx="3442106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2960" y="4233672"/>
            <a:ext cx="658368" cy="658368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4391680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18488" y="4251960"/>
            <a:ext cx="22533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RuleDesk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822960" y="4910328"/>
            <a:ext cx="29300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protótipo funcional, ao vivo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4374794" y="3977640"/>
            <a:ext cx="3442106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30826" y="4233672"/>
            <a:ext cx="658368" cy="658368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8835" y="4391680"/>
            <a:ext cx="342351" cy="34235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426354" y="4251960"/>
            <a:ext cx="22533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Explicabilidade</a:t>
            </a:r>
            <a:endParaRPr lang="en-US" sz="1800" dirty="0"/>
          </a:p>
        </p:txBody>
      </p:sp>
      <p:sp>
        <p:nvSpPr>
          <p:cNvPr id="28" name="Text 21"/>
          <p:cNvSpPr/>
          <p:nvPr/>
        </p:nvSpPr>
        <p:spPr>
          <a:xfrm>
            <a:off x="4630826" y="4910328"/>
            <a:ext cx="29300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decisão é auditável</a:t>
            </a:r>
            <a:endParaRPr lang="en-US" sz="1350" dirty="0"/>
          </a:p>
        </p:txBody>
      </p:sp>
      <p:sp>
        <p:nvSpPr>
          <p:cNvPr id="29" name="Shape 22"/>
          <p:cNvSpPr/>
          <p:nvPr/>
        </p:nvSpPr>
        <p:spPr>
          <a:xfrm>
            <a:off x="8182661" y="3977640"/>
            <a:ext cx="3442106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38693" y="4233672"/>
            <a:ext cx="658368" cy="658368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6701" y="4391680"/>
            <a:ext cx="342351" cy="34235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234221" y="4251960"/>
            <a:ext cx="22533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800" dirty="0"/>
          </a:p>
        </p:txBody>
      </p:sp>
      <p:sp>
        <p:nvSpPr>
          <p:cNvPr id="33" name="Text 25"/>
          <p:cNvSpPr/>
          <p:nvPr/>
        </p:nvSpPr>
        <p:spPr>
          <a:xfrm>
            <a:off x="8438693" y="4910328"/>
            <a:ext cx="29300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Aplicações reais e próximos passos</a:t>
            </a:r>
            <a:endParaRPr lang="en-US" sz="1350" dirty="0"/>
          </a:p>
        </p:txBody>
      </p:sp>
      <p:sp>
        <p:nvSpPr>
          <p:cNvPr id="35" name="Text 26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36" name="Text 27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Triar chamados de TI é subjetivo e inconsistente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mesmo incidente é classificado de formas diferentes por analistas diferentes.</a:t>
            </a:r>
            <a:endParaRPr lang="en-US" sz="17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urgência depende de vários fatores ao mesmo tempo: ambiente, usuários afetados, SLA, risco, impacto no cliente.</a:t>
            </a:r>
            <a:endParaRPr lang="en-US" sz="17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precisam ser rápidas — mas também justificáveis e auditáveis.</a:t>
            </a:r>
            <a:endParaRPr lang="en-US" sz="17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errado custa caro: um P1 tratado como P3 vira prejuízo e quebra de SLA.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406640" y="1920240"/>
            <a:ext cx="4218127" cy="3566160"/>
          </a:xfrm>
          <a:prstGeom prst="roundRect">
            <a:avLst>
              <a:gd name="adj" fmla="val 2564"/>
            </a:avLst>
          </a:prstGeom>
          <a:solidFill>
            <a:srgbClr val="F4F5F9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0" y="2286000"/>
            <a:ext cx="731520" cy="731520"/>
          </a:xfrm>
          <a:prstGeom prst="ellipse">
            <a:avLst/>
          </a:prstGeom>
          <a:solidFill>
            <a:srgbClr val="E11D4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7965" y="2461565"/>
            <a:ext cx="380390" cy="38039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3154680"/>
            <a:ext cx="3486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central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0" y="3520440"/>
            <a:ext cx="3486607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“Como padronizar a prioridade de um chamado e ainda explicar o porquê da decisão?”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ABORDAGEM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não é só rede neural: existe a IA simbólica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300320" cy="3749040"/>
          </a:xfrm>
          <a:prstGeom prst="roundRect">
            <a:avLst>
              <a:gd name="adj" fmla="val 2439"/>
            </a:avLst>
          </a:prstGeom>
          <a:solidFill>
            <a:srgbClr val="F1F1FE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86968" y="2258568"/>
            <a:ext cx="731520" cy="73152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3" y="2434133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01368" y="2377440"/>
            <a:ext cx="383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baseados em regras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932688" y="3200400"/>
            <a:ext cx="4568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definido por especialistas, de forma explícita.</a:t>
            </a:r>
            <a:endParaRPr lang="en-US" sz="15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Raciocina com regras “SE… ENTÃO…”.</a:t>
            </a:r>
            <a:endParaRPr lang="en-US" sz="15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Transparente, auditável e previsível.</a:t>
            </a:r>
            <a:endParaRPr lang="en-US" sz="15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quando o domínio já é bem compreendido.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6324448" y="1965960"/>
            <a:ext cx="5300320" cy="3749040"/>
          </a:xfrm>
          <a:prstGeom prst="roundRect">
            <a:avLst>
              <a:gd name="adj" fmla="val 2439"/>
            </a:avLst>
          </a:prstGeom>
          <a:solidFill>
            <a:srgbClr val="F4F5F9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44488" y="2258568"/>
            <a:ext cx="731520" cy="731520"/>
          </a:xfrm>
          <a:prstGeom prst="ellipse">
            <a:avLst/>
          </a:prstGeom>
          <a:solidFill>
            <a:srgbClr val="6B738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0052" y="2434133"/>
            <a:ext cx="380390" cy="3803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58888" y="2377440"/>
            <a:ext cx="383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Aprendizado de máquina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690208" y="3200400"/>
            <a:ext cx="4568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 padrões a partir de grandes volumes de dados.</a:t>
            </a:r>
            <a:endParaRPr lang="en-US" sz="15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Poderoso, mas costuma ser uma “caixa-preta”.</a:t>
            </a:r>
            <a:endParaRPr lang="en-US" sz="15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Difícil de auditar e explicar a cada decisão.</a:t>
            </a:r>
            <a:endParaRPr lang="en-US" sz="15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quando o padrão é complexo e há muitos dados.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 de um sistema especialista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3231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258568"/>
            <a:ext cx="777240" cy="77724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074" y="2445106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47088" y="2276856"/>
            <a:ext cx="38601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conhecimento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847088" y="2752344"/>
            <a:ext cx="38601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regras do domínio (o que o especialista sabe).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1588" y="1965960"/>
            <a:ext cx="53231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94196" y="2258568"/>
            <a:ext cx="777240" cy="77724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0733" y="2445106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81748" y="2276856"/>
            <a:ext cx="38601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fatos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7581748" y="2752344"/>
            <a:ext cx="38601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do caso concreto (o chamado atual).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566928" y="4023360"/>
            <a:ext cx="53231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9536" y="4315968"/>
            <a:ext cx="777240" cy="77724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074" y="4502506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47088" y="4334256"/>
            <a:ext cx="38601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inferência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847088" y="4809744"/>
            <a:ext cx="38601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fatos e regras para chegar a conclusões.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01588" y="4023360"/>
            <a:ext cx="53231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94196" y="4315968"/>
            <a:ext cx="777240" cy="777240"/>
          </a:xfrm>
          <a:prstGeom prst="ellipse">
            <a:avLst/>
          </a:prstGeom>
          <a:solidFill>
            <a:srgbClr val="059669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0733" y="4502506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81748" y="4334256"/>
            <a:ext cx="38601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Explicação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7581748" y="4809744"/>
            <a:ext cx="38601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 a decisão — rastreável e auditável.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19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produção: SE… ENTÃO…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73736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conhecimento vira regras condicionais com um peso. Cada regra que “dispara” soma (ou subtrai) pontos ao score de criticidade do chamado.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66928" y="2606040"/>
            <a:ext cx="5300320" cy="2286000"/>
          </a:xfrm>
          <a:prstGeom prst="roundRect">
            <a:avLst>
              <a:gd name="adj" fmla="val 4000"/>
            </a:avLst>
          </a:prstGeom>
          <a:solidFill>
            <a:srgbClr val="0F1420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2926080"/>
            <a:ext cx="4660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R02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8BE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6E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serviço indisponível = verdadeiro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7A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ENTÃO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6E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criticidade += 35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89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(candidato forte a P1)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24448" y="2606040"/>
            <a:ext cx="5300320" cy="2286000"/>
          </a:xfrm>
          <a:prstGeom prst="roundRect">
            <a:avLst>
              <a:gd name="adj" fmla="val 4000"/>
            </a:avLst>
          </a:prstGeom>
          <a:solidFill>
            <a:srgbClr val="0F1420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44488" y="2926080"/>
            <a:ext cx="4660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R16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8BE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6E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existe contorno E sem sinais críticos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7A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ENTÃO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6E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criticidade −= 8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89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(fator atenuante)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RuleDesk tem 16 regras deste tipo, agrupadas por tema (impacto, segurança, SLA, operação…).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inferência: encadeamento para frente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737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dos FATOS e avança até a CONCLUSÃO, repetindo o ciclo: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3137306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60604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77063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18488" y="2715768"/>
            <a:ext cx="1948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41248" y="3337560"/>
            <a:ext cx="2588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 as regras cujas condições os fatos satisfazem.</a:t>
            </a:r>
            <a:endParaRPr lang="en-US" sz="13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7114" y="3044952"/>
            <a:ext cx="402336" cy="4023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27194" y="2331720"/>
            <a:ext cx="3137306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801514" y="260604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106" y="2770632"/>
            <a:ext cx="356616" cy="3566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78754" y="2715768"/>
            <a:ext cx="1948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801514" y="3337560"/>
            <a:ext cx="2588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quais regras aplicar (ordem, prioridade).</a:t>
            </a:r>
            <a:endParaRPr lang="en-US" sz="13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7381" y="3044952"/>
            <a:ext cx="402336" cy="402336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487461" y="2331720"/>
            <a:ext cx="3137306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761781" y="260604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6373" y="2770632"/>
            <a:ext cx="356616" cy="35661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9539021" y="2715768"/>
            <a:ext cx="1948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900" dirty="0"/>
          </a:p>
        </p:txBody>
      </p:sp>
      <p:sp>
        <p:nvSpPr>
          <p:cNvPr id="21" name="Text 14"/>
          <p:cNvSpPr/>
          <p:nvPr/>
        </p:nvSpPr>
        <p:spPr>
          <a:xfrm>
            <a:off x="8761781" y="3337560"/>
            <a:ext cx="2588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 a regra: soma pontos e conclui.</a:t>
            </a:r>
            <a:endParaRPr lang="en-US" sz="1350" dirty="0"/>
          </a:p>
        </p:txBody>
      </p:sp>
      <p:sp>
        <p:nvSpPr>
          <p:cNvPr id="22" name="Shape 15"/>
          <p:cNvSpPr/>
          <p:nvPr/>
        </p:nvSpPr>
        <p:spPr>
          <a:xfrm>
            <a:off x="566928" y="4617720"/>
            <a:ext cx="11057839" cy="1508760"/>
          </a:xfrm>
          <a:prstGeom prst="roundRect">
            <a:avLst>
              <a:gd name="adj" fmla="val 6061"/>
            </a:avLst>
          </a:prstGeom>
          <a:solidFill>
            <a:srgbClr val="F4F5F9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23" name="Text 16"/>
          <p:cNvSpPr/>
          <p:nvPr/>
        </p:nvSpPr>
        <p:spPr>
          <a:xfrm>
            <a:off x="932688" y="4800600"/>
            <a:ext cx="1032631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frente (o que usamos): 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fatos para a conclusão — ideal para triagem e monitoramento.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trás: 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de uma hipótese e busca os fatos que a provam — típico de diagnóstico interativo (ex.: MYCIN, Prolog).</a:t>
            </a:r>
            <a:endParaRPr lang="en-US" sz="1500" dirty="0"/>
          </a:p>
        </p:txBody>
      </p:sp>
      <p:sp>
        <p:nvSpPr>
          <p:cNvPr id="25" name="Text 17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26" name="Text 18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PROTÓTIPO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RuleDesk: da entrada de fatos à decisão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5486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usuário informa fatos objetivos do incidente.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Categoria, ambiente, usuários afetados, SLA e sinais (indisponível, perda de dados, risco…).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Cenários rápidos permitem demonstrar casos reais em um clique.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Python (motor + API), React, SQLite e Docker.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65446" y="1828800"/>
            <a:ext cx="2200953" cy="4572000"/>
          </a:xfrm>
          <a:prstGeom prst="roundRect">
            <a:avLst>
              <a:gd name="adj" fmla="val 415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pic>
        <p:nvPicPr>
          <p:cNvPr id="6" name="Image 0" descr="C:\Users\gprenzo\AppData\Local\Temp\claude\C--Users-gprenzo-Documents-aumento-quadro\4cf56a0b-d13d-4453-961a-17250666b2fe\scratchpad\docxgen\fig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0038" y="1965960"/>
            <a:ext cx="1871769" cy="42976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PROTÓTIPO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16 regras, visíveis e organizadas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69164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de conhecimento fica exposta na interface, agrupada por tema. As regras que disparam em uma avaliação ficam destacadas.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07988" y="2395728"/>
            <a:ext cx="6775718" cy="3941064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pic>
        <p:nvPicPr>
          <p:cNvPr id="6" name="Image 0" descr="C:\Users\gprenzo\AppData\Local\Temp\claude\C--Users-gprenzo-Documents-aumento-quadro\4cf56a0b-d13d-4453-961a-17250666b2fe\scratchpad\docxgen\fig-knowle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6004" y="2505456"/>
            <a:ext cx="6519686" cy="3703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prioridade, score e SLA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6163056" cy="4206017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pic>
        <p:nvPicPr>
          <p:cNvPr id="5" name="Image 0" descr="C:\Users\gprenzo\AppData\Local\Temp\claude\C--Users-gprenzo-Documents-aumento-quadro\4cf56a0b-d13d-4453-961a-17250666b2fe\scratchpad\docxgen\fig-diagno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121408"/>
            <a:ext cx="5943600" cy="39865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13448" y="2194560"/>
            <a:ext cx="4611319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Cenário: checkout fora do ar em produção.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100 → P1 (Crítica).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Tempo-alvo: 15 minutos.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Responsável: líder técnico + suporte N2.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fatos que pesaram ficam destacados em vermelho.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 · O DIFERENCIAL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mostra COMO pensou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Fatos → regras disparadas → cálculo → prioridade.</a:t>
            </a:r>
            <a:endParaRPr lang="en-US" sz="16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regras dispararam neste caso.</a:t>
            </a:r>
            <a:endParaRPr lang="en-US" sz="16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score é somado em cascata, de forma visível: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66928" y="3794760"/>
            <a:ext cx="5029200" cy="1051560"/>
          </a:xfrm>
          <a:prstGeom prst="roundRect">
            <a:avLst>
              <a:gd name="adj" fmla="val 8696"/>
            </a:avLst>
          </a:prstGeom>
          <a:solidFill>
            <a:srgbClr val="0F1420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395020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89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 10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8BE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+12 +35 +24 +15 +16 +16 +12 +8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148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89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limitado a 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7A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 →  P1 Crítica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6928" y="5074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decisão é auditável: nada de caixa-preta.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144107" y="548640"/>
            <a:ext cx="4517236" cy="6163056"/>
          </a:xfrm>
          <a:prstGeom prst="roundRect">
            <a:avLst>
              <a:gd name="adj" fmla="val 2024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pic>
        <p:nvPicPr>
          <p:cNvPr id="9" name="Image 0" descr="C:\Users\gprenzo\AppData\Local\Temp\claude\C--Users-gprenzo-Documents-aumento-quadro\4cf56a0b-d13d-4453-961a-17250666b2fe\scratchpad\docxgen\fig-t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72123" y="658368"/>
            <a:ext cx="4261204" cy="5943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IMPORTA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Explicabilidade é o grande trunfo das regras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3381146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46021" y="2514600"/>
            <a:ext cx="822960" cy="82296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3532" y="271211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3520440"/>
            <a:ext cx="33811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86968" y="4023360"/>
            <a:ext cx="274106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score é a soma auditável das regras que dispararam.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05274" y="2148840"/>
            <a:ext cx="3381146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84368" y="2514600"/>
            <a:ext cx="822960" cy="82296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878" y="2712110"/>
            <a:ext cx="427939" cy="42793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05274" y="3520440"/>
            <a:ext cx="33811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Confiável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725314" y="4023360"/>
            <a:ext cx="274106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em contextos regulados: saúde, finanças, segurança.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243621" y="2148840"/>
            <a:ext cx="3381146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522714" y="2514600"/>
            <a:ext cx="822960" cy="822960"/>
          </a:xfrm>
          <a:prstGeom prst="ellipse">
            <a:avLst/>
          </a:prstGeom>
          <a:solidFill>
            <a:srgbClr val="05966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224" y="2712110"/>
            <a:ext cx="427939" cy="42793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43621" y="3520440"/>
            <a:ext cx="33811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Padronizado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563661" y="4023360"/>
            <a:ext cx="274106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Mesmos fatos, mesma decisão — sem depender de quem atende.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MUNDO REAL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sistemas de regras são usados hoje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11057839" cy="731520"/>
          </a:xfrm>
          <a:prstGeom prst="roundRect">
            <a:avLst>
              <a:gd name="adj" fmla="val 12500"/>
            </a:avLst>
          </a:prstGeom>
          <a:solidFill>
            <a:srgbClr val="F4F5F9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2048256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229" y="2168957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197510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e ITSM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4681728" y="1975104"/>
            <a:ext cx="6760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ServiceNow, GLPI e Jira roteiam e priorizam chamados — o domínio do RuleDesk.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761488"/>
            <a:ext cx="11057839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95528" y="2889504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9" y="3010205"/>
            <a:ext cx="261518" cy="26151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27048" y="281635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681728" y="2816352"/>
            <a:ext cx="6760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à triagem clínica e verificação de protocolos (linhagem do MYCIN).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566928" y="3602736"/>
            <a:ext cx="11057839" cy="731520"/>
          </a:xfrm>
          <a:prstGeom prst="roundRect">
            <a:avLst>
              <a:gd name="adj" fmla="val 12500"/>
            </a:avLst>
          </a:prstGeom>
          <a:solidFill>
            <a:srgbClr val="F4F5F9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5528" y="3730752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9" y="3851453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27048" y="36576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Finanças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4681728" y="3657600"/>
            <a:ext cx="6760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Antifraude, compliance e risco de crédito, com decisão justificável ao regulador.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566928" y="4443984"/>
            <a:ext cx="11057839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95528" y="4572000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229" y="4692701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27048" y="449884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Indústria</a:t>
            </a:r>
            <a:endParaRPr lang="en-US" sz="1650" dirty="0"/>
          </a:p>
        </p:txBody>
      </p:sp>
      <p:sp>
        <p:nvSpPr>
          <p:cNvPr id="23" name="Text 17"/>
          <p:cNvSpPr/>
          <p:nvPr/>
        </p:nvSpPr>
        <p:spPr>
          <a:xfrm>
            <a:off x="4681728" y="4498848"/>
            <a:ext cx="6760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falhas em equipamentos e manutenção baseada em sintomas.</a:t>
            </a:r>
            <a:endParaRPr lang="en-US" sz="1450" dirty="0"/>
          </a:p>
        </p:txBody>
      </p:sp>
      <p:sp>
        <p:nvSpPr>
          <p:cNvPr id="24" name="Shape 18"/>
          <p:cNvSpPr/>
          <p:nvPr/>
        </p:nvSpPr>
        <p:spPr>
          <a:xfrm>
            <a:off x="566928" y="5285232"/>
            <a:ext cx="11057839" cy="731520"/>
          </a:xfrm>
          <a:prstGeom prst="roundRect">
            <a:avLst>
              <a:gd name="adj" fmla="val 12500"/>
            </a:avLst>
          </a:prstGeom>
          <a:solidFill>
            <a:srgbClr val="F4F5F9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95528" y="5413248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29" y="5533949"/>
            <a:ext cx="261518" cy="26151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27048" y="53400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da informação</a:t>
            </a:r>
            <a:endParaRPr lang="en-US" sz="1650" dirty="0"/>
          </a:p>
        </p:txBody>
      </p:sp>
      <p:sp>
        <p:nvSpPr>
          <p:cNvPr id="28" name="Text 21"/>
          <p:cNvSpPr/>
          <p:nvPr/>
        </p:nvSpPr>
        <p:spPr>
          <a:xfrm>
            <a:off x="4681728" y="5340096"/>
            <a:ext cx="6760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Correlação de eventos e classificação de alertas em SIEMs (NIST 800-61).</a:t>
            </a:r>
            <a:endParaRPr lang="en-US" sz="1450" dirty="0"/>
          </a:p>
        </p:txBody>
      </p:sp>
      <p:sp>
        <p:nvSpPr>
          <p:cNvPr id="30" name="Text 22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  <p:sp>
        <p:nvSpPr>
          <p:cNvPr id="31" name="Text 23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474720"/>
            <a:ext cx="4572000" cy="4572000"/>
          </a:xfrm>
          <a:prstGeom prst="ellipse">
            <a:avLst/>
          </a:prstGeom>
          <a:solidFill>
            <a:srgbClr val="8B5CF6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C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886968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bem definidas geram decisões úteis, rápidas e justificáveis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6492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aplicação inteligente não precisa treinar uma rede neural.</a:t>
            </a:r>
            <a:endParaRPr lang="en-US" sz="17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domínio é claro, a IA simbólica entrega valor imediato e transparente.</a:t>
            </a:r>
            <a:endParaRPr lang="en-US" sz="17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RuleDesk padroniza a triagem e explica cada decisão.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0" y="2468880"/>
            <a:ext cx="4309567" cy="3108960"/>
          </a:xfrm>
          <a:prstGeom prst="roundRect">
            <a:avLst>
              <a:gd name="adj" fmla="val 2941"/>
            </a:avLst>
          </a:prstGeom>
          <a:solidFill>
            <a:srgbClr val="1E2440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0" y="2743200"/>
            <a:ext cx="731520" cy="73152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6525" y="2918765"/>
            <a:ext cx="380390" cy="38039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549640" y="2852928"/>
            <a:ext cx="284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680960" y="3520440"/>
            <a:ext cx="3578047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Calibrar pesos com dados históricos.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Encadear regras (fatos derivados, estilo Rete).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a Jira / ServiceNow / GLPI.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Abordagem híbrida neuro-simbólica.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2194560"/>
            <a:ext cx="5943600" cy="5943600"/>
          </a:xfrm>
          <a:prstGeom prst="ellipse">
            <a:avLst/>
          </a:prstGeom>
          <a:solidFill>
            <a:srgbClr val="6366F1">
              <a:alpha val="2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1371600"/>
            <a:ext cx="1097280" cy="109728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" y="1634947"/>
            <a:ext cx="570586" cy="5705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26974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66928" y="37033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Perguntas?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66928" y="51206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RuleDesk · Sistemas Baseados em Regras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Renzo · Gustavo Vieira   |   github.com/Guirenzo/ruledesk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RuleDesk — Sistemas Baseados em Regras</dc:title>
  <dc:subject>PptxGenJS Presentation</dc:subject>
  <dc:creator>Guilherme Renzo; Gustavo Vieira</dc:creator>
  <cp:lastModifiedBy>Guilherme Renzo; Gustavo Vieira</cp:lastModifiedBy>
  <cp:revision>1</cp:revision>
  <dcterms:created xsi:type="dcterms:W3CDTF">2026-07-02T19:04:09Z</dcterms:created>
  <dcterms:modified xsi:type="dcterms:W3CDTF">2026-07-02T19:04:09Z</dcterms:modified>
</cp:coreProperties>
</file>